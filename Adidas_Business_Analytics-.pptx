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F3864"/>
                </a:solidFill>
                <a:latin typeface="Arial"/>
              </a:rPr>
              <a:t>Full-Year Sales by Product Category (2020–21)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\$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386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Women's
Athletic FW</c:v>
                </c:pt>
                <c:pt idx="1">
                  <c:v>Men's
Apparel</c:v>
                </c:pt>
                <c:pt idx="2">
                  <c:v>Women's
Street FW</c:v>
                </c:pt>
                <c:pt idx="3">
                  <c:v>Men's
Athletic FW</c:v>
                </c:pt>
                <c:pt idx="4">
                  <c:v>Women's
Apparel</c:v>
                </c:pt>
                <c:pt idx="5">
                  <c:v>Men's
Street FW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10659235</c:v>
                </c:pt>
                <c:pt idx="1">
                  <c:v>12337155</c:v>
                </c:pt>
                <c:pt idx="2">
                  <c:v>12770688</c:v>
                </c:pt>
                <c:pt idx="3">
                  <c:v>15322410</c:v>
                </c:pt>
                <c:pt idx="4">
                  <c:v>17847910</c:v>
                </c:pt>
                <c:pt idx="5">
                  <c:v>20882669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F2-466C-9504-449D893932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38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F3864"/>
                </a:solidFill>
                <a:latin typeface="Arial"/>
              </a:defRPr>
            </a:pPr>
            <a:r>
              <a:rPr lang="en-US" sz="1250" b="0" i="0" u="none" strike="noStrike">
                <a:solidFill>
                  <a:srgbClr val="1F3864"/>
                </a:solidFill>
                <a:latin typeface="Arial"/>
              </a:rPr>
              <a:t>Sales by Region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\$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386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Midwest</c:v>
                </c:pt>
                <c:pt idx="1">
                  <c:v>South</c:v>
                </c:pt>
                <c:pt idx="2">
                  <c:v>Southeast</c:v>
                </c:pt>
                <c:pt idx="3">
                  <c:v>Northeast</c:v>
                </c:pt>
                <c:pt idx="4">
                  <c:v>West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13560070</c:v>
                </c:pt>
                <c:pt idx="1">
                  <c:v>14407736</c:v>
                </c:pt>
                <c:pt idx="2">
                  <c:v>16317146</c:v>
                </c:pt>
                <c:pt idx="3">
                  <c:v>18632487</c:v>
                </c:pt>
                <c:pt idx="4">
                  <c:v>26902628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8F-4875-998B-A632C3ABFB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38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F3864"/>
                </a:solidFill>
                <a:latin typeface="Arial"/>
              </a:defRPr>
            </a:pPr>
            <a:r>
              <a:rPr lang="en-US" sz="1250" b="0" i="0" u="none" strike="noStrike">
                <a:solidFill>
                  <a:srgbClr val="1F3864"/>
                </a:solidFill>
                <a:latin typeface="Arial"/>
              </a:rPr>
              <a:t>Sales by Retailer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\$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386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Walmart</c:v>
                </c:pt>
                <c:pt idx="1">
                  <c:v>Amazon</c:v>
                </c:pt>
                <c:pt idx="2">
                  <c:v>Kohl's</c:v>
                </c:pt>
                <c:pt idx="3">
                  <c:v>Sports Direct</c:v>
                </c:pt>
                <c:pt idx="4">
                  <c:v>Foot Locker</c:v>
                </c:pt>
                <c:pt idx="5">
                  <c:v>West Gear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7455850</c:v>
                </c:pt>
                <c:pt idx="1">
                  <c:v>7769912</c:v>
                </c:pt>
                <c:pt idx="2">
                  <c:v>10211506</c:v>
                </c:pt>
                <c:pt idx="3">
                  <c:v>18188531</c:v>
                </c:pt>
                <c:pt idx="4">
                  <c:v>21989528</c:v>
                </c:pt>
                <c:pt idx="5">
                  <c:v>24204740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2B-4783-8CD6-831D3127B7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38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F3864"/>
                </a:solidFill>
                <a:latin typeface="Arial"/>
              </a:defRPr>
            </a:pPr>
            <a:r>
              <a:rPr lang="en-US" sz="1250" b="0" i="0" u="none" strike="noStrike">
                <a:solidFill>
                  <a:srgbClr val="1F3864"/>
                </a:solidFill>
                <a:latin typeface="Arial"/>
              </a:rPr>
              <a:t>Total Sales by Channel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\$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386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Online</c:v>
                </c:pt>
                <c:pt idx="1">
                  <c:v>Outlet</c:v>
                </c:pt>
                <c:pt idx="2">
                  <c:v>In-Store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24767439</c:v>
                </c:pt>
                <c:pt idx="1">
                  <c:v>29388253</c:v>
                </c:pt>
                <c:pt idx="2">
                  <c:v>35664375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0B-4841-94F7-D69F75DC1D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F3864"/>
                </a:solidFill>
                <a:latin typeface="Arial"/>
              </a:defRPr>
            </a:pPr>
            <a:r>
              <a:rPr lang="en-US" sz="1250" b="0" i="0" u="none" strike="noStrike">
                <a:solidFill>
                  <a:srgbClr val="1F3864"/>
                </a:solidFill>
                <a:latin typeface="Arial"/>
              </a:rPr>
              <a:t>Average Profit Margin by Channel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Profit Margin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386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In-Store</c:v>
                </c:pt>
                <c:pt idx="1">
                  <c:v>Outlet</c:v>
                </c:pt>
                <c:pt idx="2">
                  <c:v>Online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0.35599999999999998</c:v>
                </c:pt>
                <c:pt idx="1">
                  <c:v>0.39500000000000002</c:v>
                </c:pt>
                <c:pt idx="2">
                  <c:v>0.46400000000000002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53-453C-94B1-E4605350CA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7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640080"/>
            <a:ext cx="1645920" cy="16848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work2/assets/er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777240"/>
            <a:ext cx="1371600" cy="1298448"/>
          </a:xfrm>
          <a:prstGeom prst="rect">
            <a:avLst/>
          </a:prstGeom>
        </p:spPr>
      </p:pic>
      <p:pic>
        <p:nvPicPr>
          <p:cNvPr id="4" name="Image 1" descr="/home/claude/work2/assets/adida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1087" y="274320"/>
            <a:ext cx="2363465" cy="18013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 ·  EXCEL &amp; POWER PIVOT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68680" y="31089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Sales &amp;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Performance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868680" y="4846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7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Analytics Dashboard Project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86968" y="5806440"/>
            <a:ext cx="457200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59253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Russian University  ·  Faculty of Management, Economics and Business Technology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68680" y="62636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Dr. Rowaida Ali   ·   TA: Nouran Amr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5" name="Image 0" descr="/home/claude/work2/assets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19762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16736" y="201168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83680" y="182880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9" name="Image 1" descr="/home/claude/work2/assets/icon_hel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81" y="197620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51776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51776" y="201168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278892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3" name="Image 2" descr="/home/claude/work2/assets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293632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316736" y="297180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583680" y="278892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7" name="Image 3" descr="/home/claude/work2/assets/icon_bro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81" y="2936321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51776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351776" y="297180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48640" y="374904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1" name="Image 4" descr="/home/claude/work2/assets/icon_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041" y="3896441"/>
            <a:ext cx="272125" cy="2721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16736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316736" y="393192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· Power Pivot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6583680" y="374904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5" name="Image 5" descr="/home/claude/work2/assets/icon_dash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81" y="3896441"/>
            <a:ext cx="272125" cy="27212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351776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7351776" y="393192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548640" y="470916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9" name="Image 6" descr="/home/claude/work2/assets/icon_tren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041" y="4856561"/>
            <a:ext cx="272125" cy="27212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316736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1316736" y="489204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32" name="Shape 23"/>
          <p:cNvSpPr/>
          <p:nvPr/>
        </p:nvSpPr>
        <p:spPr>
          <a:xfrm>
            <a:off x="6583680" y="470916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33" name="Image 7" descr="/home/claude/work2/assets/icon_lightbul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1081" y="4856561"/>
            <a:ext cx="272125" cy="27212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351776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7351776" y="489204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500" dirty="0"/>
          </a:p>
        </p:txBody>
      </p:sp>
      <p:sp>
        <p:nvSpPr>
          <p:cNvPr id="36" name="Text 2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Company, Many Signals — No Single View of Profit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22960" cy="822960"/>
          </a:xfrm>
          <a:prstGeom prst="ellipse">
            <a:avLst/>
          </a:prstGeom>
          <a:solidFill>
            <a:srgbClr val="4472C4"/>
          </a:solidFill>
          <a:ln/>
        </p:spPr>
      </p:sp>
      <p:pic>
        <p:nvPicPr>
          <p:cNvPr id="5" name="Image 0" descr="/home/claude/work2/assets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19513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Adidas' retail performance is spread across multiple regions, retailers, sales channels, and product lines. Sales, marketing, and finance teams can each see a piece of the picture — but no one has a single, reliable view of which products, regions, and channels actually drive profit, not just revenue.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657600"/>
            <a:ext cx="2075688" cy="1737360"/>
          </a:xfrm>
          <a:prstGeom prst="roundRect">
            <a:avLst>
              <a:gd name="adj" fmla="val 3158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91363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40080" y="470916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88920" y="3657600"/>
            <a:ext cx="2075688" cy="1737360"/>
          </a:xfrm>
          <a:prstGeom prst="roundRect">
            <a:avLst>
              <a:gd name="adj" fmla="val 3158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88920" y="391363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880360" y="470916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0" y="3657600"/>
            <a:ext cx="2075688" cy="1737360"/>
          </a:xfrm>
          <a:prstGeom prst="roundRect">
            <a:avLst>
              <a:gd name="adj" fmla="val 3158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391363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120640" y="470916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269480" y="3657600"/>
            <a:ext cx="2075688" cy="1737360"/>
          </a:xfrm>
          <a:prstGeom prst="roundRect">
            <a:avLst>
              <a:gd name="adj" fmla="val 3158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69480" y="391363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7360920" y="470916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509760" y="3657600"/>
            <a:ext cx="2075688" cy="1737360"/>
          </a:xfrm>
          <a:prstGeom prst="roundRect">
            <a:avLst>
              <a:gd name="adj" fmla="val 3158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01200" y="391363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2020–2021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9601200" y="470916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BUSINESS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Build an interactive Excel dashboard using Power Pivot and PivotTables to analyze Adidas' sales, profit, and margin performance — and turn that analysis into clear, actionable recommendations.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044952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category generates the highest sales and profit?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3044952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29718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and retailer perform best — and worst?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7490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performance change from month to month?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3822192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0" y="37490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sales channel (Online, Outlet, In-Store) is most profitable?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99432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526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are associated with higher profit margin?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4599432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4526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management focus improvement efforts?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9,641 Transactions Across the US Retail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286000" cy="1143000"/>
          </a:xfrm>
          <a:prstGeom prst="roundRect">
            <a:avLst>
              <a:gd name="adj" fmla="val 4800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013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9,641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63240" y="1691640"/>
            <a:ext cx="2286000" cy="1143000"/>
          </a:xfrm>
          <a:prstGeom prst="roundRect">
            <a:avLst>
              <a:gd name="adj" fmla="val 4800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8013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06324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1691640"/>
            <a:ext cx="2286000" cy="1143000"/>
          </a:xfrm>
          <a:prstGeom prst="roundRect">
            <a:avLst>
              <a:gd name="adj" fmla="val 4800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8013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yrs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2020 – Dec 2021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92440" y="1691640"/>
            <a:ext cx="3547872" cy="1143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Source: Kaggle — Adidas US Sales Dataset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691640"/>
            <a:ext cx="3547872" cy="1143000"/>
          </a:xfrm>
          <a:prstGeom prst="rect">
            <a:avLst/>
          </a:prstGeom>
          <a:ln w="12700">
            <a:solidFill>
              <a:srgbClr val="BDD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TYPES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34290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Retailer, Region, State, City, Product, Sales Method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11064240" cy="0"/>
          </a:xfrm>
          <a:prstGeom prst="line">
            <a:avLst/>
          </a:prstGeom>
          <a:noFill/>
          <a:ln w="9525">
            <a:solidFill>
              <a:srgbClr val="BDD7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87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40873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Unit, Units Sold, Total Sales, Operating Profit, Profit Margin, COGS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590288"/>
            <a:ext cx="11064240" cy="0"/>
          </a:xfrm>
          <a:prstGeom prst="line">
            <a:avLst/>
          </a:prstGeom>
          <a:noFill/>
          <a:ln w="9525">
            <a:solidFill>
              <a:srgbClr val="BDD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7457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ID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51760" y="47457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Date, Retailer ID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48656"/>
            <a:ext cx="11064240" cy="0"/>
          </a:xfrm>
          <a:prstGeom prst="line">
            <a:avLst/>
          </a:prstGeom>
          <a:noFill/>
          <a:ln w="9525">
            <a:solidFill>
              <a:srgbClr val="BDD7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Export to Analysis-Ready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87752" cy="1051560"/>
          </a:xfrm>
          <a:prstGeom prst="roundRect">
            <a:avLst>
              <a:gd name="adj" fmla="val 5217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FA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231343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587752" cy="1051560"/>
          </a:xfrm>
          <a:prstGeom prst="roundRect">
            <a:avLst>
              <a:gd name="adj" fmla="val 5217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78308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FA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429000" y="231343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Fixed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587752" cy="1051560"/>
          </a:xfrm>
          <a:prstGeom prst="roundRect">
            <a:avLst>
              <a:gd name="adj" fmla="val 5217"/>
            </a:avLst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78308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FA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9,641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217920" y="231343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 Retained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587752" cy="1051560"/>
          </a:xfrm>
          <a:prstGeom prst="roundRect">
            <a:avLst>
              <a:gd name="adj" fmla="val 5217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78308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FA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006840" y="231343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Date Fields Added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</p:sp>
      <p:pic>
        <p:nvPicPr>
          <p:cNvPr id="17" name="Image 0" descr="/home/claude/work2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73" y="3144073"/>
            <a:ext cx="149230" cy="14923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30083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the dataset into a structured Excel Table for consistent referencing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575304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</p:sp>
      <p:pic>
        <p:nvPicPr>
          <p:cNvPr id="20" name="Image 1" descr="/home/claude/work2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73" y="3656137"/>
            <a:ext cx="149230" cy="14923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05840" y="3520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and corrected data types — dates as Date, currency fields as Number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48640" y="4087368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</p:sp>
      <p:pic>
        <p:nvPicPr>
          <p:cNvPr id="23" name="Image 2" descr="/home/claude/work2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73" y="4168201"/>
            <a:ext cx="149230" cy="14923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05840" y="40325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 records — none found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4599432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</p:sp>
      <p:pic>
        <p:nvPicPr>
          <p:cNvPr id="26" name="Image 3" descr="/home/claude/work2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73" y="4680265"/>
            <a:ext cx="149230" cy="14923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05840" y="45445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2 missing "Price per Unit" values and handled them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583680" y="3063240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</p:sp>
      <p:pic>
        <p:nvPicPr>
          <p:cNvPr id="29" name="Image 4" descr="/home/claude/work2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513" y="3144073"/>
            <a:ext cx="149230" cy="14923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040880" y="30083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category text across Region, Retailer, Product, and Sales Method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583680" y="3575304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</p:sp>
      <p:pic>
        <p:nvPicPr>
          <p:cNvPr id="32" name="Image 5" descr="/home/claude/work2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513" y="3656137"/>
            <a:ext cx="149230" cy="14923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40880" y="3520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Year, Month, Month Name, and Day from Invoice Date for trend analysis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583680" y="4087368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</p:sp>
      <p:pic>
        <p:nvPicPr>
          <p:cNvPr id="35" name="Image 6" descr="/home/claude/work2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513" y="4168201"/>
            <a:ext cx="149230" cy="14923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040880" y="40325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unnecessary helper columns before loading into the Data Model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Pivot Measures Behind Every KPI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table was loaded into the Excel Data Model (Power Pivot). Four core DAX measures were built once, then reused across every KPI card and PivotTable in the workbook.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14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Measure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SUM( Total Sales 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37744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514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Operating Profit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2926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SUM( Operating Profit 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SUM( COGS 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370332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Profit Margin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AVERAGE( Profit Margin 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fact table — the Dataset is flat and self-contained, so no additional relationships were required.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PivotTables, One Consistent Set of Measures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/home/claude/work2/assets/ic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0967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PT-KPI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9443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KPI totals — sales, profit, COGS, margin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73736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196596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1" name="Image 1" descr="/home/claude/work2/assets/ic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471" y="20967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PT-Trend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9443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trend analysis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1584" y="173736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0184" y="196596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6" name="Image 2" descr="/home/claude/work2/assets/ic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943" y="20967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PT-Product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9443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 &amp; margin by product category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1" name="Image 3" descr="/home/claude/work2/assets/ic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10839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617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PT-Retailer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9560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breakdown by retailer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374904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53712" y="397764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6" name="Image 4" descr="/home/claude/work2/assets/ic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471" y="410839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617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PT-Region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9560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breakdown by region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01584" y="374904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30184" y="397764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31" name="Image 5" descr="/home/claude/work2/assets/ic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943" y="410839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0184" y="4617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PT-TopBottom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9560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&amp; bottom categories by sales, profit, COGS, margin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Workbook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609344"/>
            <a:ext cx="5468112" cy="1627632"/>
          </a:xfrm>
          <a:prstGeom prst="rect">
            <a:avLst/>
          </a:prstGeom>
          <a:solidFill>
            <a:srgbClr val="FFFFFF"/>
          </a:solidFill>
          <a:ln w="15875">
            <a:solidFill>
              <a:srgbClr val="BDD7EE"/>
            </a:solidFill>
            <a:prstDash val="solid"/>
          </a:ln>
        </p:spPr>
      </p:sp>
      <p:pic>
        <p:nvPicPr>
          <p:cNvPr id="5" name="Image 0" descr="/home/claude/work2/assets/proof/shot_datamode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45920"/>
            <a:ext cx="539496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291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Pivot Data Model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35661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9,642 transactions loaded into the Data Model with the Total Sales Measure live in the formula bar.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81344" y="1609344"/>
            <a:ext cx="5468112" cy="1627632"/>
          </a:xfrm>
          <a:prstGeom prst="rect">
            <a:avLst/>
          </a:prstGeom>
          <a:solidFill>
            <a:srgbClr val="FFFFFF"/>
          </a:solidFill>
          <a:ln w="15875">
            <a:solidFill>
              <a:srgbClr val="BDD7EE"/>
            </a:solidFill>
            <a:prstDash val="solid"/>
          </a:ln>
        </p:spPr>
      </p:sp>
      <p:pic>
        <p:nvPicPr>
          <p:cNvPr id="9" name="Image 1" descr="/home/claude/work2/assets/proof/shot_measures_crop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1645920"/>
            <a:ext cx="5394960" cy="1554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3291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217920" y="35661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core measures — Total Sales, Operating Profit, COGS, and Average Profit Margin — built once in Manage Measures.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12064" y="4215384"/>
            <a:ext cx="5468112" cy="1627632"/>
          </a:xfrm>
          <a:prstGeom prst="rect">
            <a:avLst/>
          </a:prstGeom>
          <a:solidFill>
            <a:srgbClr val="FFFFFF"/>
          </a:solidFill>
          <a:ln w="15875">
            <a:solidFill>
              <a:srgbClr val="BDD7EE"/>
            </a:solidFill>
            <a:prstDash val="solid"/>
          </a:ln>
        </p:spPr>
      </p:sp>
      <p:pic>
        <p:nvPicPr>
          <p:cNvPr id="13" name="Image 2" descr="/home/claude/work2/assets/proof/shot_connections_crop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8640" y="4251960"/>
            <a:ext cx="5394960" cy="1554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" y="5897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Connected Workbook-Wide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48640" y="61722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 slicer alone is wired to 16 PivotTables and PivotCharts across every sheet in the workbook.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81344" y="4215384"/>
            <a:ext cx="5468112" cy="1627632"/>
          </a:xfrm>
          <a:prstGeom prst="rect">
            <a:avLst/>
          </a:prstGeom>
          <a:solidFill>
            <a:srgbClr val="FFFFFF"/>
          </a:solidFill>
          <a:ln w="15875">
            <a:solidFill>
              <a:srgbClr val="BDD7EE"/>
            </a:solidFill>
            <a:prstDash val="solid"/>
          </a:ln>
        </p:spPr>
      </p:sp>
      <p:pic>
        <p:nvPicPr>
          <p:cNvPr id="17" name="Image 3" descr="/home/claude/work2/assets/proof/shot_ptproduct_crop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17920" y="4251960"/>
            <a:ext cx="5394960" cy="1554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17920" y="5897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PT-Product Output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217920" y="61722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PivotTable behind our product insights — these are the real numbers, not estimates.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2/assets/adida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411480"/>
            <a:ext cx="1417320" cy="4516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68680" y="80467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Interactive View of Sales &amp; Profit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822960" y="1554480"/>
            <a:ext cx="6766560" cy="4547667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1" descr="/home/claude/work2/assets/dashbo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600200"/>
            <a:ext cx="6675120" cy="44562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1812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FA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$2,099,661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818120" y="2130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(Mar–May)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81812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FA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$771,362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818120" y="3044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Profit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818120" y="3520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FA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$1,328,299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818120" y="39593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COGS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81812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FA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36.7%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818120" y="4873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Profit Margin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68680" y="63550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&amp; trend reflect the Mar–May 2021 filter; product, region &amp; retailer views show full 2020–21 totals.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Footwear Leads Revenue — Apparel Leads Margin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54380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LEADERS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54380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543800" y="2423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$20.9M sales · #1 in both revenue and profit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54380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Apparel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543800" y="3474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$12.3M in sales, but the highest margin at 57.3%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43800" y="4206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Apparel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543800" y="45262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2nd-highest revenue ($17.8M) but the lowest margin, 22.6%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REGION &amp; RETAILER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Are Concentrated in the West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45352" y="169164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generates $26.9M — nearly double the Midwest's $13.6M. West Gear and Foot Locker together account for over half of all retail sales, while Walmart and Amazon lag well behind.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SALES CHANNEL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and Profitability Don't Move Together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45352" y="169164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drives the most revenue ($35.7M), but Online carries the best margin (46.4%) — the highest-volume channel isn't the most profitable one.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Are Telling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5" name="Image 0" descr="/home/claude/work2/assets/icon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8223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3677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 is the growth driver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97680" y="163677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 leads every category in both revenue ($20.9M) and profit — the collection's single strongest performer.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404872"/>
            <a:ext cx="11064240" cy="0"/>
          </a:xfrm>
          <a:prstGeom prst="line">
            <a:avLst/>
          </a:prstGeom>
          <a:noFill/>
          <a:ln w="9525">
            <a:solidFill>
              <a:srgbClr val="BDD7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587752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0" name="Image 1" descr="/home/claude/work2/assets/icon_per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2718511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53288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doesn't follow revenue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297680" y="253288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Apparel earns the highest margin (57.3%) on modest sales, while Women's Apparel — 2nd in revenue — has the lowest margin (22.6%).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300984"/>
            <a:ext cx="11064240" cy="0"/>
          </a:xfrm>
          <a:prstGeom prst="line">
            <a:avLst/>
          </a:prstGeom>
          <a:noFill/>
          <a:ln w="9525">
            <a:solidFill>
              <a:srgbClr val="BDD7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483864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5" name="Image 2" descr="/home/claude/work2/assets/icon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3614623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429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regionally concentrated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297680" y="34290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 region alone generates $26.9M, almost double the Midwest's $13.6M, signaling an uneven national footprint.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197096"/>
            <a:ext cx="11064240" cy="0"/>
          </a:xfrm>
          <a:prstGeom prst="line">
            <a:avLst/>
          </a:prstGeom>
          <a:noFill/>
          <a:ln w="9525">
            <a:solidFill>
              <a:srgbClr val="BDD7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4379976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0" name="Image 3" descr="/home/claude/work2/assets/icon_st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" y="4510735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432511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retailers dominate distribution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297680" y="432511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Gear and Foot Locker together account for over half of total sales, while Walmart and Amazon underperform.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5093208"/>
            <a:ext cx="11064240" cy="0"/>
          </a:xfrm>
          <a:prstGeom prst="line">
            <a:avLst/>
          </a:prstGeom>
          <a:noFill/>
          <a:ln w="9525">
            <a:solidFill>
              <a:srgbClr val="BDD7E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5276088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5" name="Image 4" descr="/home/claude/work2/assets/icon_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" y="5406847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522122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is the most efficient channel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297680" y="522122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carries the highest average margin (46.4%) despite generating the least total revenue of the three channels.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Analysis Into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top footwear lines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Men's and Women's Street Footwear in marketing and inventory planning — they combine strong revenue with healthy margins.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from Footwear growth-driver insight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46520" y="22585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Women's Apparel profitability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pricing and cost structure for Women's Apparel; its 22.6% margin trails every other category despite being the #2 revenue line.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3337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from margin-vs-revenue insight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23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7240" y="4453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incremental spend to Online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800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already delivers the best margin (46.4%). Growing its share ahead of In-Store volume can lift profit faster than chasing more revenue.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532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from sales-channel insight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023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453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underperforming markets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800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Midwest, Walmart, and Amazon to see whether the gap is demand- or execution-driven, then pilot a focused regional promotion.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5532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from region &amp; retailer insight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2/assets/adida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548640"/>
            <a:ext cx="1691640" cy="539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68680" y="24688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Isn't Just About More Sales — It's About Better Margin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68680" y="379476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Adidas' performance is strong in footwear and concentrated in the West, but profitability is uneven across categories and channels. By focusing on high-margin opportunities — Men's Apparel pricing, Online channel growth, and top-performing footwear lines — management can grow profit without simply chasing more revenue.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Built This</a:t>
            </a:r>
            <a:endParaRPr lang="en-US" sz="3000" dirty="0"/>
          </a:p>
        </p:txBody>
      </p:sp>
      <p:pic>
        <p:nvPicPr>
          <p:cNvPr id="4" name="Image 0" descr="/home/claude/work2/assets/er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502920"/>
            <a:ext cx="868680" cy="89333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7" name="Image 1" descr="/home/claude/work2/assets/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2096719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Kamal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7240" y="29077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Power Pivot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77240" y="32735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understanding, cleaning, Data Model setup, relationships &amp; calculated columns/measures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25112" y="173736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53712" y="196596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3" name="Image 2" descr="/home/claude/work2/assets/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471" y="209671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53712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Sherif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53712" y="29077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PivotTables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53712" y="32735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questions, calculations &amp; analysis, KPI extraction, category/region/customer trends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101584" y="173736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DCE6F7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30184" y="196596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9" name="Image 3" descr="/home/claude/work2/assets/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943" y="2096719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30184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Moustafa Mahmoud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330184" y="29077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Insights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330184" y="32735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design, PivotCharts, slicers, KPI cards, insights &amp; recommendations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4800600"/>
            <a:ext cx="11064240" cy="0"/>
          </a:xfrm>
          <a:prstGeom prst="line">
            <a:avLst/>
          </a:prstGeom>
          <a:noFill/>
          <a:ln w="9525">
            <a:solidFill>
              <a:srgbClr val="BDD7E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Kaggle — Adidas US Sales Dataset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1402</Words>
  <Application>Microsoft Office PowerPoint</Application>
  <PresentationFormat>Widescreen</PresentationFormat>
  <Paragraphs>231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Moustafa Mahmoud</cp:lastModifiedBy>
  <cp:revision>2</cp:revision>
  <dcterms:created xsi:type="dcterms:W3CDTF">2026-08-19T21:50:33Z</dcterms:created>
  <dcterms:modified xsi:type="dcterms:W3CDTF">2026-08-19T23:35:19Z</dcterms:modified>
</cp:coreProperties>
</file>